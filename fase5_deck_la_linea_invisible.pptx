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slideMasters/slideMaster21.xml" ContentType="application/vnd.openxmlformats-officedocument.presentationml.slideMaster+xml"/>
  <ns0:Override PartName="/ppt/slides/slide21.xml" ContentType="application/vnd.openxmlformats-officedocument.presentationml.slide+xml"/>
  <ns0:Override PartName="/ppt/slideMasters/slideMaster22.xml" ContentType="application/vnd.openxmlformats-officedocument.presentationml.slideMaster+xml"/>
  <ns0:Override PartName="/ppt/slides/slide22.xml" ContentType="application/vnd.openxmlformats-officedocument.presentationml.slide+xml"/>
  <ns0:Override PartName="/ppt/slideMasters/slideMaster23.xml" ContentType="application/vnd.openxmlformats-officedocument.presentationml.slideMaster+xml"/>
  <ns0:Override PartName="/ppt/slides/slide23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notesSlides/notesSlide22.xml" ContentType="application/vnd.openxmlformats-officedocument.presentationml.notesSlide+xml"/>
  <ns0:Override PartName="/ppt/notesSlides/notesSlide23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1 [0:00]: Marzo de dos mil veinte. El campus en silencio. Los pasillos vacíos. Las ventanillas cerradas.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1 [0:10]: Y del otro lado... más de seis mil alumnos que de un día para otro necesitaban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1 [0:25]: ¿Qué pasa cuando seis mil personas necesitan respuestas... y nadie sabe por dónde empezar? [SILENCIO 3 seg]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1 [0:35]: Hicimos lo que cualquiera haría. Sacamos el teléfono. WhatsApp personal.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1 [0:50]: Un agente podía tener ciento cincuenta conversaciones abiertas. Al mismo tiempo. A las once de la noche.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1 [1:05]: Y lo que no se veía era que las personas que atendían se estaban agotando. Solo su voluntad.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1 [1:20]: Necesitábamos más que buena voluntad. Necesitábamos un pacto. [PAUSA 3 seg, transición a VOZ 2]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[1:25]: Y el pacto empezó con una decisión muy sencilla. CAA tocó la puerta y dijo: Nosotros también necesitamos estar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[1:50]: Hicimos algo que ninguna universidad en México había hecho: conectar WhatsApp Business a un sistema profesional.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[2:05]: Para 2022, Operación Académica levantó la mano. Luego las Escuelas. Así nació LeonEl, nuestro primer 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[2:25]: Y entonces llegaron los que nadie esperaba. Operaciones. Más de cuarenta y cinco personas entraron al ecosistema.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[2:45]: GLPI nació aquí. En Mayab. Lo que construimos como solución local se volvió referente nacional.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[3:05]: Hoy lo que tenemos ya no es un chat. Es un ecosistema.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[3:25]: Trescientas atenciones cada día. Dos mil en un solo día de carga académica.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[3:35]: Seis personas en CAA. Diez en Soporte DTI. Más de cuarenta y cinco en Operaciones. Más de sesenta personas en primera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[3:45]: Seis años. Sin un solo día fuera de servicio. Sin réplica en toda la Red de Universidades Anáhuac.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[3:50]: De una persona con 150 chats en su teléfono personal a las 11pm... a un ecosistema integrado.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2 [4:10]: Pero un ecosistema no se mide en herramientas. Se mide en personas. [Transición a VOZ 3]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3 [4:15]: Hay personas en esta sala que durante seis años han sido la voz que contesta cuando alguien no sabe a quién acudir.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3 [4:35]: Es la historia de áreas que no estaban obligadas a trabajar juntas... y eligieron hacerlo.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3 [4:55]: Hay una línea que conecta... Esa línea no está hecha de tecnología.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3 [5:05]: Está hecha de sesenta personas que eligieron, cada día durante seis años... no soltar. [SILENCIO 3 seg]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3 [5:12]: Gracias. [Slide final permanece en pantalla durante el aplauso]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Marzo de 2020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campus en silencio.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pasillos vacíos. Las ventanillas cerradas.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 que necesitaban respuestas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2/23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¿Y si nadie contesta?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canal de facto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protocolo. Sin horario. Sin límites.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4/23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simultáneas  ·  un solo agente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once de la noche. En fin de semana.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5/23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no se veía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6/23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Necesitábamos un pacto.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EL PACTO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Septiembre 2020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37160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222222"/>
          </a:solidFill>
          <a:ln/>
        </p:spPr>
      </p:sp>
      <p:pic>
        <p:nvPicPr>
          <p:cNvPr id="5" name="Image 0" descr="icon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7440" y="2697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Atención a Alumnos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222222"/>
          </a:solidFill>
          <a:ln/>
        </p:spPr>
      </p:sp>
      <p:pic>
        <p:nvPicPr>
          <p:cNvPr id="9" name="Image 1" descr="icon_2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5040" y="26974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1206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de Información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alianza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15" name="Text 10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8/23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EL PACTO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Diciembre 2020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PIONEROS EN EDUCACIÓN EN MÉXICO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222222"/>
          </a:solidFill>
          <a:ln/>
        </p:spPr>
      </p:sp>
      <p:pic>
        <p:nvPicPr>
          <p:cNvPr id="6" name="Image 0" descr="icon_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1640" y="2651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0" y="246888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222222"/>
          </a:solidFill>
          <a:ln/>
        </p:spPr>
      </p:sp>
      <p:pic>
        <p:nvPicPr>
          <p:cNvPr id="9" name="Image 1" descr="icon_4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840" y="26517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Rocket.Chat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0" y="246888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222222"/>
          </a:solidFill>
          <a:ln/>
        </p:spPr>
      </p:sp>
      <p:pic>
        <p:nvPicPr>
          <p:cNvPr id="12" name="Image 2" descr="icon_5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8040" y="265176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3796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Servicio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existía... lo inventamos.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17" name="Text 1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9/23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EL PACTO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  ·  El efecto dominó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645920" y="1920240"/>
            <a:ext cx="228600" cy="228600"/>
          </a:xfrm>
          <a:prstGeom prst="ellipse">
            <a:avLst/>
          </a:prstGeom>
          <a:solidFill>
            <a:srgbClr val="FF5900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148840"/>
            <a:ext cx="36576" cy="685800"/>
          </a:xfrm>
          <a:prstGeom prst="rect">
            <a:avLst/>
          </a:prstGeom>
          <a:solidFill>
            <a:srgbClr val="6F6F6F"/>
          </a:solidFill>
          <a:ln/>
        </p:spPr>
      </p:sp>
      <p:pic>
        <p:nvPicPr>
          <p:cNvPr id="6" name="Image 0" descr="icon_6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456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Académica levanta la mano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645920" y="2880360"/>
            <a:ext cx="228600" cy="228600"/>
          </a:xfrm>
          <a:prstGeom prst="ellipse">
            <a:avLst/>
          </a:prstGeom>
          <a:solidFill>
            <a:srgbClr val="FF5900"/>
          </a:solidFill>
          <a:ln/>
        </p:spPr>
      </p:sp>
      <p:sp>
        <p:nvSpPr>
          <p:cNvPr id="9" name="Shape 6"/>
          <p:cNvSpPr/>
          <p:nvPr/>
        </p:nvSpPr>
        <p:spPr>
          <a:xfrm>
            <a:off x="1737360" y="3108960"/>
            <a:ext cx="36576" cy="685800"/>
          </a:xfrm>
          <a:prstGeom prst="rect">
            <a:avLst/>
          </a:prstGeom>
          <a:solidFill>
            <a:srgbClr val="6F6F6F"/>
          </a:solidFill>
          <a:ln/>
        </p:spPr>
      </p:sp>
      <p:pic>
        <p:nvPicPr>
          <p:cNvPr id="10" name="Image 1" descr="icon_7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560" y="2788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788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Escuelas se integran en cargas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645920" y="3840480"/>
            <a:ext cx="228600" cy="228600"/>
          </a:xfrm>
          <a:prstGeom prst="ellipse">
            <a:avLst/>
          </a:prstGeom>
          <a:solidFill>
            <a:srgbClr val="FF5900"/>
          </a:solidFill>
          <a:ln/>
        </p:spPr>
      </p:sp>
      <p:pic>
        <p:nvPicPr>
          <p:cNvPr id="13" name="Image 2" descr="icon_8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4560" y="37490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4320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LeonEl Bot — proteger, no reemplazar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17" name="Text 1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10/23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EL PACTO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  ·  Los que nadie esperaba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222222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240280"/>
            <a:ext cx="640080" cy="64008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6" name="Image 0" descr="icon_9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063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94560" y="20116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222222"/>
          </a:solidFill>
          <a:ln/>
        </p:spPr>
      </p:sp>
      <p:sp>
        <p:nvSpPr>
          <p:cNvPr id="9" name="Shape 6"/>
          <p:cNvSpPr/>
          <p:nvPr/>
        </p:nvSpPr>
        <p:spPr>
          <a:xfrm>
            <a:off x="2578608" y="2240280"/>
            <a:ext cx="640080" cy="64008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10" name="Image 1" descr="icon_10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1760" y="23317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40280" y="3063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931920" y="20116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222222"/>
          </a:solidFill>
          <a:ln/>
        </p:spPr>
      </p:sp>
      <p:sp>
        <p:nvSpPr>
          <p:cNvPr id="13" name="Shape 9"/>
          <p:cNvSpPr/>
          <p:nvPr/>
        </p:nvSpPr>
        <p:spPr>
          <a:xfrm>
            <a:off x="4315968" y="2240280"/>
            <a:ext cx="640080" cy="64008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14" name="Image 2" descr="icon_11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9120" y="23317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77640" y="3063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Mayabus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0" y="20116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222222"/>
          </a:solidFill>
          <a:ln/>
        </p:spPr>
      </p:sp>
      <p:sp>
        <p:nvSpPr>
          <p:cNvPr id="17" name="Shape 12"/>
          <p:cNvSpPr/>
          <p:nvPr/>
        </p:nvSpPr>
        <p:spPr>
          <a:xfrm>
            <a:off x="6053328" y="2240280"/>
            <a:ext cx="640080" cy="64008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18" name="Image 3" descr="icon_12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6480" y="23317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15000" y="3063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Salud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406640" y="201168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222222"/>
          </a:solidFill>
          <a:ln/>
        </p:spPr>
      </p:sp>
      <p:sp>
        <p:nvSpPr>
          <p:cNvPr id="21" name="Shape 15"/>
          <p:cNvSpPr/>
          <p:nvPr/>
        </p:nvSpPr>
        <p:spPr>
          <a:xfrm>
            <a:off x="7790688" y="2240280"/>
            <a:ext cx="640080" cy="64008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22" name="Image 4" descr="icon_13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3840" y="233172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52360" y="3063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 personas se sumaron al ecosistema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27" name="Text 19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11/23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EL PACTO</a:t>
            </a:r>
            <a:endParaRPr lang="en-US" sz="1000" dirty="0"/>
          </a:p>
        </p:txBody>
      </p:sp>
      <p:pic>
        <p:nvPicPr>
          <p:cNvPr id="3" name="Image 0" descr="icon_1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0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GLPI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Nacido aquí. Adoptado por la Red.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tickets ITIL que hoy usa la mayoría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Anáhuac y SERUA nació en este campus.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9" name="Text 5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12/23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EL ECOSISTEMA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ecosistema integrado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03120"/>
            <a:ext cx="731520" cy="73152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6" name="Image 0" descr="icon_1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21945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Rocket.Chat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77440" y="2834640"/>
            <a:ext cx="320040" cy="0"/>
          </a:xfrm>
          <a:prstGeom prst="line">
            <a:avLst/>
          </a:prstGeom>
          <a:noFill/>
          <a:ln w="25400">
            <a:solidFill>
              <a:srgbClr val="FF59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97480" y="182880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0" y="2103120"/>
            <a:ext cx="731520" cy="73152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11" name="Image 1" descr="icon_16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6120" y="219456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+ App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26280" y="2834640"/>
            <a:ext cx="320040" cy="0"/>
          </a:xfrm>
          <a:prstGeom prst="line">
            <a:avLst/>
          </a:prstGeom>
          <a:noFill/>
          <a:ln w="25400">
            <a:solidFill>
              <a:srgbClr val="FF59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82880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/>
        </p:spPr>
      </p:sp>
      <p:sp>
        <p:nvSpPr>
          <p:cNvPr id="15" name="Shape 11"/>
          <p:cNvSpPr/>
          <p:nvPr/>
        </p:nvSpPr>
        <p:spPr>
          <a:xfrm>
            <a:off x="5349240" y="2103120"/>
            <a:ext cx="731520" cy="73152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16" name="Image 2" descr="icon_17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4960" y="219456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3776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675120" y="2834640"/>
            <a:ext cx="320040" cy="0"/>
          </a:xfrm>
          <a:prstGeom prst="line">
            <a:avLst/>
          </a:prstGeom>
          <a:noFill/>
          <a:ln w="25400">
            <a:solidFill>
              <a:srgbClr val="FF590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95160" y="182880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0" y="2103120"/>
            <a:ext cx="731520" cy="731520"/>
          </a:xfrm>
          <a:prstGeom prst="ellipse">
            <a:avLst/>
          </a:prstGeom>
          <a:solidFill>
            <a:srgbClr val="FF5900">
              <a:alpha val="85000"/>
            </a:srgbClr>
          </a:solidFill>
          <a:ln/>
        </p:spPr>
      </p:sp>
      <p:pic>
        <p:nvPicPr>
          <p:cNvPr id="21" name="Image 3" descr="icon_18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3800" y="219456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0175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25" name="Text 1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13/23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EL ECOSISTEMA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atenciones cada día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822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0" y="2286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solo día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académica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1097280"/>
            <a:ext cx="36576" cy="1828800"/>
          </a:xfrm>
          <a:prstGeom prst="rect">
            <a:avLst/>
          </a:prstGeom>
          <a:solidFill>
            <a:srgbClr val="FF5900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14/23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EL ECOSISTEMA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1097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7432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DTI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097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0" y="9144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1097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23760" y="9144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línea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18288"/>
          </a:xfrm>
          <a:prstGeom prst="rect">
            <a:avLst/>
          </a:prstGeom>
          <a:solidFill>
            <a:srgbClr val="FF5900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áreas articuladas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años de operación continua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 alumnos atendidos hoy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15/23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años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réplica en la Red Anáhuac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solo día fuera de servicio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16/23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11:00 PM</a:t>
            </a:r>
            <a:endParaRPr lang="en-US" sz="3600" dirty="0"/>
          </a:p>
        </p:txBody>
      </p:sp>
      <p:pic>
        <p:nvPicPr>
          <p:cNvPr id="4" name="Image 0" descr="icon_19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7360" y="21031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chats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teléfono personal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9144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Ecosistema</a:t>
            </a:r>
            <a:endParaRPr lang="en-US" sz="3600" dirty="0"/>
          </a:p>
        </p:txBody>
      </p:sp>
      <p:pic>
        <p:nvPicPr>
          <p:cNvPr id="8" name="Image 1" descr="icon_20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210312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3200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correcto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protegido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44568" y="457200"/>
            <a:ext cx="54864" cy="4206240"/>
          </a:xfrm>
          <a:prstGeom prst="rect">
            <a:avLst/>
          </a:prstGeom>
          <a:solidFill>
            <a:srgbClr val="FF590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ecosistema no se mide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herramientas.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mide en personas.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EL LEGADO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quienes sostienen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línea cada día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foto grupal del equipo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  ·  Semana de Innovación 2026  ·  19/23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no fue un proyecto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tecnología.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 un proyecto de confianza.</a:t>
            </a: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FF5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una línea que conecta a un alumno</a:t>
            </a:r>
            <a:endParaRPr lang="en-US" sz="22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su respuesta, a un profesor con su</a:t>
            </a:r>
            <a:endParaRPr lang="en-US" sz="22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solución, a una emergencia con su auxilio.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línea no está hecha de tecnología.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 hecha de 60 personas que eligieron,</a:t>
            </a:r>
            <a:endParaRPr lang="en-US" sz="30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día durante 6 años,</a:t>
            </a:r>
            <a:endParaRPr lang="en-US" sz="30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soltar.</a:t>
            </a:r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Línea Invisible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FF59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Línea UAM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años  ·  +60 personas  ·  8,500 alumnos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de Innovación  ·  Anáhuac Mayab  ·  12 de octubre de 2026</a:t>
            </a:r>
            <a:endParaRPr lang="en-US" sz="1100" dirty="0"/>
          </a:p>
        </p:txBody>
      </p:sp>
      <p:pic>
        <p:nvPicPr>
          <p:cNvPr id="7" name="Image 0" descr="/Users/guillermo.valdez/Desktop/brand-kit-anahuac/logos/mayab/Anahuac_Mayab_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0" y="4480560"/>
            <a:ext cx="182880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A966AB9-5637-438F-8941-381F7C8B4AA1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Línea Invisible — Atención en Línea UAM</dc:title>
  <dc:subject>PptxGenJS Presentation</dc:subject>
  <dc:creator>Universidad Anáhuac Mayab</dc:creator>
  <cp:lastModifiedBy>Universidad Anáhuac Mayab</cp:lastModifiedBy>
  <cp:revision>1</cp:revision>
  <dcterms:created xsi:type="dcterms:W3CDTF">2026-09-08T23:29:22Z</dcterms:created>
  <dcterms:modified xsi:type="dcterms:W3CDTF">2026-09-08T23:29:22Z</dcterms:modified>
</cp:coreProperties>
</file>